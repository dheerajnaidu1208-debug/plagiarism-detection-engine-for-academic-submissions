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Overpass"/>
      <p:regular r:id="rId201314"/>
    </p:embeddedFont>
    <p:embeddedFont>
      <p:font typeface="Overpass Bold"/>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jpeg"/><Relationship Id="rId3" Type="http://schemas.openxmlformats.org/officeDocument/2006/relationships/image" Target="../media/image-1002-2.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5222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52222">
              <a:alpha val="9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252222">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2373511"/>
            <a:ext cx="6223638" cy="1173361"/>
          </a:xfrm>
          <a:prstGeom prst="rect">
            <a:avLst/>
          </a:prstGeom>
          <a:noFill/>
          <a:ln/>
        </p:spPr>
        <p:txBody>
          <a:bodyPr wrap="square" lIns="0" tIns="0" rIns="0" bIns="0" rtlCol="0" anchor="t">
            <a:normAutofit/>
          </a:bodyPr>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Plagiarism Detection Engine for Academic Submissions</a:t>
            </a:r>
            <a:endParaRPr lang="en-US" sz="3650" dirty="0"/>
          </a:p>
        </p:txBody>
      </p:sp>
      <p:sp>
        <p:nvSpPr>
          <p:cNvPr id="4" name="Text 1"/>
          <p:cNvSpPr/>
          <p:nvPr/>
        </p:nvSpPr>
        <p:spPr>
          <a:xfrm>
            <a:off x="5269971" y="3846016"/>
            <a:ext cx="622363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A Comprehensive Study on Implementation, Technologies, and Best Practices for Academic Institutions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1435100"/>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Abstract</a:t>
            </a:r>
            <a:endParaRPr lang="en-US" sz="3650" dirty="0"/>
          </a:p>
        </p:txBody>
      </p:sp>
      <p:sp>
        <p:nvSpPr>
          <p:cNvPr id="3" name="Text 1"/>
          <p:cNvSpPr/>
          <p:nvPr/>
        </p:nvSpPr>
        <p:spPr>
          <a:xfrm>
            <a:off x="698086" y="2420739"/>
            <a:ext cx="10795524"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This study provides a concise overview of plagiarism detection engines, which are automated systems designed to identify copied or paraphrased content in academic submissions. They are crucial for protecting academic integrity and significantly reducing the workload on educators.</a:t>
            </a:r>
            <a:endParaRPr lang="en-US" sz="1550" dirty="0"/>
          </a:p>
        </p:txBody>
      </p:sp>
      <p:sp>
        <p:nvSpPr>
          <p:cNvPr id="4" name="Shape 2"/>
          <p:cNvSpPr/>
          <p:nvPr/>
        </p:nvSpPr>
        <p:spPr>
          <a:xfrm>
            <a:off x="698086" y="3602633"/>
            <a:ext cx="3465525" cy="1820168"/>
          </a:xfrm>
          <a:prstGeom prst="roundRect">
            <a:avLst>
              <a:gd name="adj" fmla="val 4603"/>
            </a:avLst>
          </a:prstGeom>
          <a:solidFill>
            <a:srgbClr val="252222">
              <a:alpha val="95000"/>
            </a:srgbClr>
          </a:solidFill>
          <a:ln w="25399">
            <a:solidFill>
              <a:srgbClr val="971B55"/>
            </a:solidFill>
            <a:prstDash val="solid"/>
          </a:ln>
        </p:spPr>
      </p:sp>
      <p:sp>
        <p:nvSpPr>
          <p:cNvPr id="5" name="Text 3"/>
          <p:cNvSpPr/>
          <p:nvPr/>
        </p:nvSpPr>
        <p:spPr>
          <a:xfrm>
            <a:off x="922910" y="3827462"/>
            <a:ext cx="301587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What they are</a:t>
            </a:r>
            <a:endParaRPr lang="en-US" sz="1800" dirty="0"/>
          </a:p>
        </p:txBody>
      </p:sp>
      <p:sp>
        <p:nvSpPr>
          <p:cNvPr id="6" name="Text 4"/>
          <p:cNvSpPr/>
          <p:nvPr/>
        </p:nvSpPr>
        <p:spPr>
          <a:xfrm>
            <a:off x="922910" y="4240411"/>
            <a:ext cx="3015877"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Automated systems that identify copied/paraphrased content.</a:t>
            </a:r>
            <a:endParaRPr lang="en-US" sz="1550" dirty="0"/>
          </a:p>
        </p:txBody>
      </p:sp>
      <p:sp>
        <p:nvSpPr>
          <p:cNvPr id="7" name="Shape 5"/>
          <p:cNvSpPr/>
          <p:nvPr/>
        </p:nvSpPr>
        <p:spPr>
          <a:xfrm>
            <a:off x="4363035" y="3602633"/>
            <a:ext cx="3465525" cy="1820168"/>
          </a:xfrm>
          <a:prstGeom prst="roundRect">
            <a:avLst>
              <a:gd name="adj" fmla="val 4603"/>
            </a:avLst>
          </a:prstGeom>
          <a:solidFill>
            <a:srgbClr val="252222">
              <a:alpha val="95000"/>
            </a:srgbClr>
          </a:solidFill>
          <a:ln w="25399">
            <a:solidFill>
              <a:srgbClr val="971B55"/>
            </a:solidFill>
            <a:prstDash val="solid"/>
          </a:ln>
        </p:spPr>
      </p:sp>
      <p:sp>
        <p:nvSpPr>
          <p:cNvPr id="8" name="Text 6"/>
          <p:cNvSpPr/>
          <p:nvPr/>
        </p:nvSpPr>
        <p:spPr>
          <a:xfrm>
            <a:off x="4587859" y="3827462"/>
            <a:ext cx="301587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Why they matter</a:t>
            </a:r>
            <a:endParaRPr lang="en-US" sz="1800" dirty="0"/>
          </a:p>
        </p:txBody>
      </p:sp>
      <p:sp>
        <p:nvSpPr>
          <p:cNvPr id="9" name="Text 7"/>
          <p:cNvSpPr/>
          <p:nvPr/>
        </p:nvSpPr>
        <p:spPr>
          <a:xfrm>
            <a:off x="4587859" y="4240411"/>
            <a:ext cx="3015877"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Protect academic integrity and reduce educator burden.</a:t>
            </a:r>
            <a:endParaRPr lang="en-US" sz="1550" dirty="0"/>
          </a:p>
        </p:txBody>
      </p:sp>
      <p:sp>
        <p:nvSpPr>
          <p:cNvPr id="10" name="Shape 8"/>
          <p:cNvSpPr/>
          <p:nvPr/>
        </p:nvSpPr>
        <p:spPr>
          <a:xfrm>
            <a:off x="8027985" y="3602633"/>
            <a:ext cx="3465624" cy="1820168"/>
          </a:xfrm>
          <a:prstGeom prst="roundRect">
            <a:avLst>
              <a:gd name="adj" fmla="val 4603"/>
            </a:avLst>
          </a:prstGeom>
          <a:solidFill>
            <a:srgbClr val="252222">
              <a:alpha val="95000"/>
            </a:srgbClr>
          </a:solidFill>
          <a:ln w="25399">
            <a:solidFill>
              <a:srgbClr val="971B55"/>
            </a:solidFill>
            <a:prstDash val="solid"/>
          </a:ln>
        </p:spPr>
      </p:sp>
      <p:sp>
        <p:nvSpPr>
          <p:cNvPr id="11" name="Text 9"/>
          <p:cNvSpPr/>
          <p:nvPr/>
        </p:nvSpPr>
        <p:spPr>
          <a:xfrm>
            <a:off x="8252809" y="3827462"/>
            <a:ext cx="3015976"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Scope of study</a:t>
            </a:r>
            <a:endParaRPr lang="en-US" sz="1800" dirty="0"/>
          </a:p>
        </p:txBody>
      </p:sp>
      <p:sp>
        <p:nvSpPr>
          <p:cNvPr id="12" name="Text 10"/>
          <p:cNvSpPr/>
          <p:nvPr/>
        </p:nvSpPr>
        <p:spPr>
          <a:xfrm>
            <a:off x="8252809" y="4240411"/>
            <a:ext cx="3015976"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Review detection methods, practical applications, and challenges.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1308199"/>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Introduction</a:t>
            </a:r>
            <a:endParaRPr lang="en-US" sz="3650" dirty="0"/>
          </a:p>
        </p:txBody>
      </p:sp>
      <p:sp>
        <p:nvSpPr>
          <p:cNvPr id="3" name="Text 1"/>
          <p:cNvSpPr/>
          <p:nvPr/>
        </p:nvSpPr>
        <p:spPr>
          <a:xfrm>
            <a:off x="698086" y="2293838"/>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Plagiarism detection engines are indispensable tools in modern academia. They play a critical role in maintaining educational standards and fostering original research.</a:t>
            </a:r>
            <a:endParaRPr lang="en-US" sz="1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156545"/>
            <a:ext cx="3465525" cy="2393156"/>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1094" y="3336032"/>
            <a:ext cx="239310" cy="239316"/>
          </a:xfrm>
          <a:prstGeom prst="rect">
            <a:avLst/>
          </a:prstGeom>
        </p:spPr>
      </p:pic>
      <p:sp>
        <p:nvSpPr>
          <p:cNvPr id="6" name="Text 2"/>
          <p:cNvSpPr/>
          <p:nvPr/>
        </p:nvSpPr>
        <p:spPr>
          <a:xfrm>
            <a:off x="922910" y="3954363"/>
            <a:ext cx="301587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Definition</a:t>
            </a:r>
            <a:endParaRPr lang="en-US" sz="1800" dirty="0"/>
          </a:p>
        </p:txBody>
      </p:sp>
      <p:sp>
        <p:nvSpPr>
          <p:cNvPr id="7" name="Text 3"/>
          <p:cNvSpPr/>
          <p:nvPr/>
        </p:nvSpPr>
        <p:spPr>
          <a:xfrm>
            <a:off x="922910" y="4367312"/>
            <a:ext cx="3015877"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Advanced software systems that identify unoriginal content by comparing against databases.</a:t>
            </a:r>
            <a:endParaRPr lang="en-US" sz="15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3035" y="3156545"/>
            <a:ext cx="3465525" cy="2393156"/>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76044" y="3336032"/>
            <a:ext cx="239310" cy="239316"/>
          </a:xfrm>
          <a:prstGeom prst="rect">
            <a:avLst/>
          </a:prstGeom>
        </p:spPr>
      </p:pic>
      <p:sp>
        <p:nvSpPr>
          <p:cNvPr id="10" name="Text 4"/>
          <p:cNvSpPr/>
          <p:nvPr/>
        </p:nvSpPr>
        <p:spPr>
          <a:xfrm>
            <a:off x="4587859" y="3954363"/>
            <a:ext cx="301587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Purpose</a:t>
            </a:r>
            <a:endParaRPr lang="en-US" sz="1800" dirty="0"/>
          </a:p>
        </p:txBody>
      </p:sp>
      <p:sp>
        <p:nvSpPr>
          <p:cNvPr id="11" name="Text 5"/>
          <p:cNvSpPr/>
          <p:nvPr/>
        </p:nvSpPr>
        <p:spPr>
          <a:xfrm>
            <a:off x="4587859" y="4367312"/>
            <a:ext cx="3015877"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Uphold academic integrity, ensure fairness, and promote original thought.</a:t>
            </a:r>
            <a:endParaRPr lang="en-US" sz="15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27985" y="3156545"/>
            <a:ext cx="3465624" cy="2393156"/>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41093" y="3336032"/>
            <a:ext cx="239310" cy="239316"/>
          </a:xfrm>
          <a:prstGeom prst="rect">
            <a:avLst/>
          </a:prstGeom>
        </p:spPr>
      </p:pic>
      <p:sp>
        <p:nvSpPr>
          <p:cNvPr id="14" name="Text 6"/>
          <p:cNvSpPr/>
          <p:nvPr/>
        </p:nvSpPr>
        <p:spPr>
          <a:xfrm>
            <a:off x="8252809" y="3954363"/>
            <a:ext cx="3015976"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Challenge</a:t>
            </a:r>
            <a:endParaRPr lang="en-US" sz="1800" dirty="0"/>
          </a:p>
        </p:txBody>
      </p:sp>
      <p:sp>
        <p:nvSpPr>
          <p:cNvPr id="15" name="Text 7"/>
          <p:cNvSpPr/>
          <p:nvPr/>
        </p:nvSpPr>
        <p:spPr>
          <a:xfrm>
            <a:off x="8252809" y="4367312"/>
            <a:ext cx="3015976"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Navigating evolving digital resources and sophisticated evasion techniques.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1445518"/>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Literature Review</a:t>
            </a:r>
            <a:endParaRPr lang="en-US" sz="3650" dirty="0"/>
          </a:p>
        </p:txBody>
      </p:sp>
      <p:sp>
        <p:nvSpPr>
          <p:cNvPr id="3" name="Text 1"/>
          <p:cNvSpPr/>
          <p:nvPr/>
        </p:nvSpPr>
        <p:spPr>
          <a:xfrm>
            <a:off x="698086" y="2431157"/>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Plagiarism detection research has developed extensively, covering various aspects from its historical underpinnings to its contemporary application and challenges.</a:t>
            </a:r>
            <a:endParaRPr lang="en-US" sz="1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293864"/>
            <a:ext cx="498661" cy="498673"/>
          </a:xfrm>
          <a:prstGeom prst="rect">
            <a:avLst/>
          </a:prstGeom>
        </p:spPr>
      </p:pic>
      <p:sp>
        <p:nvSpPr>
          <p:cNvPr id="5" name="Text 2"/>
          <p:cNvSpPr/>
          <p:nvPr/>
        </p:nvSpPr>
        <p:spPr>
          <a:xfrm>
            <a:off x="698086" y="4041874"/>
            <a:ext cx="527304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Extensive Research Base</a:t>
            </a:r>
            <a:endParaRPr lang="en-US" sz="1800" dirty="0"/>
          </a:p>
        </p:txBody>
      </p:sp>
      <p:sp>
        <p:nvSpPr>
          <p:cNvPr id="6" name="Text 3"/>
          <p:cNvSpPr/>
          <p:nvPr/>
        </p:nvSpPr>
        <p:spPr>
          <a:xfrm>
            <a:off x="698086" y="4454823"/>
            <a:ext cx="5273047"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Historical and contemporary studies on academic integrity highlight the ongoing relevance and evolution of plagiarism detection.</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0463" y="3293864"/>
            <a:ext cx="498661" cy="498673"/>
          </a:xfrm>
          <a:prstGeom prst="rect">
            <a:avLst/>
          </a:prstGeom>
        </p:spPr>
      </p:pic>
      <p:sp>
        <p:nvSpPr>
          <p:cNvPr id="8" name="Text 4"/>
          <p:cNvSpPr/>
          <p:nvPr/>
        </p:nvSpPr>
        <p:spPr>
          <a:xfrm>
            <a:off x="6220463" y="4041874"/>
            <a:ext cx="5273146"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Methodological Insights</a:t>
            </a:r>
            <a:endParaRPr lang="en-US" sz="1800" dirty="0"/>
          </a:p>
        </p:txBody>
      </p:sp>
      <p:sp>
        <p:nvSpPr>
          <p:cNvPr id="9" name="Text 5"/>
          <p:cNvSpPr/>
          <p:nvPr/>
        </p:nvSpPr>
        <p:spPr>
          <a:xfrm>
            <a:off x="6220463" y="4454823"/>
            <a:ext cx="5273146"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Diverse research methodologies, including computational linguistics and statistical analysis, significantly impact detection accuracy.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1862138"/>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Problem Statement and Objectives</a:t>
            </a:r>
            <a:endParaRPr lang="en-US" sz="3650" dirty="0"/>
          </a:p>
        </p:txBody>
      </p:sp>
      <p:sp>
        <p:nvSpPr>
          <p:cNvPr id="3" name="Text 1"/>
          <p:cNvSpPr/>
          <p:nvPr/>
        </p:nvSpPr>
        <p:spPr>
          <a:xfrm>
            <a:off x="698086" y="2947392"/>
            <a:ext cx="515448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FFFFFF"/>
                </a:solidFill>
                <a:latin typeface="Overpass Bold" pitchFamily="34" charset="0"/>
                <a:ea typeface="Overpass Bold" pitchFamily="34" charset="-122"/>
                <a:cs typeface="Overpass Bold" pitchFamily="34" charset="-120"/>
              </a:rPr>
              <a:t>The Problem</a:t>
            </a:r>
            <a:endParaRPr lang="en-US" sz="1800" dirty="0"/>
          </a:p>
        </p:txBody>
      </p:sp>
      <p:sp>
        <p:nvSpPr>
          <p:cNvPr id="4" name="Text 2"/>
          <p:cNvSpPr/>
          <p:nvPr/>
        </p:nvSpPr>
        <p:spPr>
          <a:xfrm>
            <a:off x="698086" y="3440112"/>
            <a:ext cx="5154484" cy="148599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Increasing sophistication of plagiarism methods</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Significant burden on educators</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Potential erosion of institutional reputation</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Compromised learning integrity</a:t>
            </a:r>
            <a:endParaRPr lang="en-US" sz="1550" dirty="0"/>
          </a:p>
        </p:txBody>
      </p:sp>
      <p:sp>
        <p:nvSpPr>
          <p:cNvPr id="5" name="Text 3"/>
          <p:cNvSpPr/>
          <p:nvPr/>
        </p:nvSpPr>
        <p:spPr>
          <a:xfrm>
            <a:off x="6345476" y="2947392"/>
            <a:ext cx="515448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FFFFFF"/>
                </a:solidFill>
                <a:latin typeface="Overpass Bold" pitchFamily="34" charset="0"/>
                <a:ea typeface="Overpass Bold" pitchFamily="34" charset="-122"/>
                <a:cs typeface="Overpass Bold" pitchFamily="34" charset="-120"/>
              </a:rPr>
              <a:t>Our Objectives</a:t>
            </a:r>
            <a:endParaRPr lang="en-US" sz="1800" dirty="0"/>
          </a:p>
        </p:txBody>
      </p:sp>
      <p:sp>
        <p:nvSpPr>
          <p:cNvPr id="6" name="Text 4"/>
          <p:cNvSpPr/>
          <p:nvPr/>
        </p:nvSpPr>
        <p:spPr>
          <a:xfrm>
            <a:off x="6345476" y="3440112"/>
            <a:ext cx="5154484" cy="1485999"/>
          </a:xfrm>
          <a:prstGeom prst="rect">
            <a:avLst/>
          </a:prstGeom>
          <a:noFill/>
          <a:ln/>
        </p:spPr>
        <p:txBody>
          <a:bodyPr wrap="square" lIns="0" tIns="0" rIns="0" bIns="0" rtlCol="0" anchor="t">
            <a:normAutofit/>
          </a:bodyPr>
          <a:lstStyle/>
          <a:p>
            <a:pPr algn="l" marL="314960" indent="-314960">
              <a:lnSpc>
                <a:spcPct val="133000"/>
              </a:lnSpc>
              <a:buSzPct val="100000"/>
              <a:buFont typeface="+mj-lt"/>
              <a:buAutoNum type="arabicPeriod" startAt="1"/>
            </a:pPr>
            <a:r>
              <a:rPr lang="en-US" sz="1550" dirty="0">
                <a:solidFill>
                  <a:srgbClr val="E5E0DF"/>
                </a:solidFill>
                <a:latin typeface="Overpass" pitchFamily="34" charset="0"/>
                <a:ea typeface="Overpass" pitchFamily="34" charset="-122"/>
                <a:cs typeface="Overpass" pitchFamily="34" charset="-120"/>
              </a:rPr>
              <a:t>Strengthen Integrity</a:t>
            </a:r>
            <a:endParaRPr lang="en-US" sz="1550" dirty="0"/>
          </a:p>
          <a:p>
            <a:pPr algn="l" marL="314960" indent="-314960">
              <a:lnSpc>
                <a:spcPct val="133000"/>
              </a:lnSpc>
              <a:buSzPct val="100000"/>
              <a:buFont typeface="+mj-lt"/>
              <a:buAutoNum type="arabicPeriod" startAt="2"/>
            </a:pPr>
            <a:r>
              <a:rPr lang="en-US" sz="1550" dirty="0">
                <a:solidFill>
                  <a:srgbClr val="E5E0DF"/>
                </a:solidFill>
                <a:latin typeface="Overpass" pitchFamily="34" charset="0"/>
                <a:ea typeface="Overpass" pitchFamily="34" charset="-122"/>
                <a:cs typeface="Overpass" pitchFamily="34" charset="-120"/>
              </a:rPr>
              <a:t>Deter Misconduct</a:t>
            </a:r>
            <a:endParaRPr lang="en-US" sz="1550" dirty="0"/>
          </a:p>
          <a:p>
            <a:pPr algn="l" marL="314960" indent="-314960">
              <a:lnSpc>
                <a:spcPct val="133000"/>
              </a:lnSpc>
              <a:buSzPct val="100000"/>
              <a:buFont typeface="+mj-lt"/>
              <a:buAutoNum type="arabicPeriod" startAt="3"/>
            </a:pPr>
            <a:r>
              <a:rPr lang="en-US" sz="1550" dirty="0">
                <a:solidFill>
                  <a:srgbClr val="E5E0DF"/>
                </a:solidFill>
                <a:latin typeface="Overpass" pitchFamily="34" charset="0"/>
                <a:ea typeface="Overpass" pitchFamily="34" charset="-122"/>
                <a:cs typeface="Overpass" pitchFamily="34" charset="-120"/>
              </a:rPr>
              <a:t>Support Educators</a:t>
            </a:r>
            <a:endParaRPr lang="en-US" sz="1550" dirty="0"/>
          </a:p>
          <a:p>
            <a:pPr algn="l" marL="314960" indent="-314960">
              <a:lnSpc>
                <a:spcPct val="133000"/>
              </a:lnSpc>
              <a:buSzPct val="100000"/>
              <a:buFont typeface="+mj-lt"/>
              <a:buAutoNum type="arabicPeriod" startAt="4"/>
            </a:pPr>
            <a:r>
              <a:rPr lang="en-US" sz="1550" dirty="0">
                <a:solidFill>
                  <a:srgbClr val="E5E0DF"/>
                </a:solidFill>
                <a:latin typeface="Overpass" pitchFamily="34" charset="0"/>
                <a:ea typeface="Overpass" pitchFamily="34" charset="-122"/>
                <a:cs typeface="Overpass" pitchFamily="34" charset="-120"/>
              </a:rPr>
              <a:t>Promote Learning</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1166416"/>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Hardware and Software Requirements</a:t>
            </a:r>
            <a:endParaRPr lang="en-US" sz="3650" dirty="0"/>
          </a:p>
        </p:txBody>
      </p:sp>
      <p:sp>
        <p:nvSpPr>
          <p:cNvPr id="3" name="Text 1"/>
          <p:cNvSpPr/>
          <p:nvPr/>
        </p:nvSpPr>
        <p:spPr>
          <a:xfrm>
            <a:off x="698086" y="2152055"/>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Implementing an effective plagiarism detection system requires careful consideration of both underlying technical infrastructure and specialized software components.</a:t>
            </a:r>
            <a:endParaRPr lang="en-US" sz="1550" dirty="0"/>
          </a:p>
        </p:txBody>
      </p:sp>
      <p:sp>
        <p:nvSpPr>
          <p:cNvPr id="4" name="Text 2"/>
          <p:cNvSpPr/>
          <p:nvPr/>
        </p:nvSpPr>
        <p:spPr>
          <a:xfrm>
            <a:off x="698086" y="3214191"/>
            <a:ext cx="515448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FFFFFF"/>
                </a:solidFill>
                <a:latin typeface="Overpass Bold" pitchFamily="34" charset="0"/>
                <a:ea typeface="Overpass Bold" pitchFamily="34" charset="-122"/>
                <a:cs typeface="Overpass Bold" pitchFamily="34" charset="-120"/>
              </a:rPr>
              <a:t>Hardware Requirements</a:t>
            </a:r>
            <a:endParaRPr lang="en-US" sz="1800" dirty="0"/>
          </a:p>
        </p:txBody>
      </p:sp>
      <p:sp>
        <p:nvSpPr>
          <p:cNvPr id="5" name="Text 3"/>
          <p:cNvSpPr/>
          <p:nvPr/>
        </p:nvSpPr>
        <p:spPr>
          <a:xfrm>
            <a:off x="698086" y="3706912"/>
            <a:ext cx="515448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Robust hardware is essential for processing large volumes of data and ensuring efficient detection.</a:t>
            </a:r>
            <a:endParaRPr lang="en-US" sz="1550" dirty="0"/>
          </a:p>
        </p:txBody>
      </p:sp>
      <p:sp>
        <p:nvSpPr>
          <p:cNvPr id="6" name="Text 4"/>
          <p:cNvSpPr/>
          <p:nvPr/>
        </p:nvSpPr>
        <p:spPr>
          <a:xfrm>
            <a:off x="698086" y="4524772"/>
            <a:ext cx="5154484" cy="1097062"/>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Servers</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Storage capacity</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Processing power</a:t>
            </a:r>
            <a:endParaRPr lang="en-US" sz="1550" dirty="0"/>
          </a:p>
        </p:txBody>
      </p:sp>
      <p:sp>
        <p:nvSpPr>
          <p:cNvPr id="7" name="Text 5"/>
          <p:cNvSpPr/>
          <p:nvPr/>
        </p:nvSpPr>
        <p:spPr>
          <a:xfrm>
            <a:off x="6345476" y="3214191"/>
            <a:ext cx="515448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FFFFFF"/>
                </a:solidFill>
                <a:latin typeface="Overpass Bold" pitchFamily="34" charset="0"/>
                <a:ea typeface="Overpass Bold" pitchFamily="34" charset="-122"/>
                <a:cs typeface="Overpass Bold" pitchFamily="34" charset="-120"/>
              </a:rPr>
              <a:t>Software Requirements</a:t>
            </a:r>
            <a:endParaRPr lang="en-US" sz="1800" dirty="0"/>
          </a:p>
        </p:txBody>
      </p:sp>
      <p:sp>
        <p:nvSpPr>
          <p:cNvPr id="8" name="Text 6"/>
          <p:cNvSpPr/>
          <p:nvPr/>
        </p:nvSpPr>
        <p:spPr>
          <a:xfrm>
            <a:off x="6345476" y="3706912"/>
            <a:ext cx="515448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Specialized software components enable the core functionality and integration capabilities of the system.</a:t>
            </a:r>
            <a:endParaRPr lang="en-US" sz="1550" dirty="0"/>
          </a:p>
        </p:txBody>
      </p:sp>
      <p:sp>
        <p:nvSpPr>
          <p:cNvPr id="9" name="Text 7"/>
          <p:cNvSpPr/>
          <p:nvPr/>
        </p:nvSpPr>
        <p:spPr>
          <a:xfrm>
            <a:off x="6345476" y="4524772"/>
            <a:ext cx="5154484" cy="1097062"/>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Database systems</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NLP libraries</a:t>
            </a:r>
            <a:endParaRPr lang="en-US" sz="1550" dirty="0"/>
          </a:p>
          <a:p>
            <a:pPr algn="l" marL="314960" indent="-314960">
              <a:lnSpc>
                <a:spcPct val="133000"/>
              </a:lnSpc>
              <a:buSzPct val="100000"/>
              <a:buChar char="•"/>
            </a:pPr>
            <a:r>
              <a:rPr lang="en-US" sz="1550" dirty="0">
                <a:solidFill>
                  <a:srgbClr val="E5E0DF"/>
                </a:solidFill>
                <a:latin typeface="Overpass" pitchFamily="34" charset="0"/>
                <a:ea typeface="Overpass" pitchFamily="34" charset="-122"/>
                <a:cs typeface="Overpass" pitchFamily="34" charset="-120"/>
              </a:rPr>
              <a:t>Machine learning frameworks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1445518"/>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Key Outcomes and Benefits</a:t>
            </a:r>
            <a:endParaRPr lang="en-US" sz="3650" dirty="0"/>
          </a:p>
        </p:txBody>
      </p:sp>
      <p:sp>
        <p:nvSpPr>
          <p:cNvPr id="3" name="Text 1"/>
          <p:cNvSpPr/>
          <p:nvPr/>
        </p:nvSpPr>
        <p:spPr>
          <a:xfrm>
            <a:off x="698086" y="2431157"/>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Implementing a robust plagiarism detection engine yields significant benefits for academic institutions, faculty, and students alike.</a:t>
            </a:r>
            <a:endParaRPr lang="en-US" sz="1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293864"/>
            <a:ext cx="498661" cy="498673"/>
          </a:xfrm>
          <a:prstGeom prst="rect">
            <a:avLst/>
          </a:prstGeom>
        </p:spPr>
      </p:pic>
      <p:sp>
        <p:nvSpPr>
          <p:cNvPr id="5" name="Text 2"/>
          <p:cNvSpPr/>
          <p:nvPr/>
        </p:nvSpPr>
        <p:spPr>
          <a:xfrm>
            <a:off x="698086" y="4041874"/>
            <a:ext cx="5273047"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Preventive Deterrence</a:t>
            </a:r>
            <a:endParaRPr lang="en-US" sz="1800" dirty="0"/>
          </a:p>
        </p:txBody>
      </p:sp>
      <p:sp>
        <p:nvSpPr>
          <p:cNvPr id="6" name="Text 3"/>
          <p:cNvSpPr/>
          <p:nvPr/>
        </p:nvSpPr>
        <p:spPr>
          <a:xfrm>
            <a:off x="698086" y="4454823"/>
            <a:ext cx="5273047"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Deters plagiarism before submission, as awareness of detection mechanisms changes student behavior and encourages original work.</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0463" y="3293864"/>
            <a:ext cx="498661" cy="498673"/>
          </a:xfrm>
          <a:prstGeom prst="rect">
            <a:avLst/>
          </a:prstGeom>
        </p:spPr>
      </p:pic>
      <p:sp>
        <p:nvSpPr>
          <p:cNvPr id="8" name="Text 4"/>
          <p:cNvSpPr/>
          <p:nvPr/>
        </p:nvSpPr>
        <p:spPr>
          <a:xfrm>
            <a:off x="6220463" y="4041874"/>
            <a:ext cx="5273146"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Faculty Time Savings</a:t>
            </a:r>
            <a:endParaRPr lang="en-US" sz="1800" dirty="0"/>
          </a:p>
        </p:txBody>
      </p:sp>
      <p:sp>
        <p:nvSpPr>
          <p:cNvPr id="9" name="Text 5"/>
          <p:cNvSpPr/>
          <p:nvPr/>
        </p:nvSpPr>
        <p:spPr>
          <a:xfrm>
            <a:off x="6220463" y="4454823"/>
            <a:ext cx="5273146"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Automates the identification of questionable content, saving instructors an estimated 5-10 hours per course on manual review.</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1944886"/>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Conclusion</a:t>
            </a:r>
            <a:endParaRPr lang="en-US" sz="3650" dirty="0"/>
          </a:p>
        </p:txBody>
      </p:sp>
      <p:sp>
        <p:nvSpPr>
          <p:cNvPr id="3" name="Shape 1"/>
          <p:cNvSpPr/>
          <p:nvPr/>
        </p:nvSpPr>
        <p:spPr>
          <a:xfrm>
            <a:off x="698086" y="2930525"/>
            <a:ext cx="448755" cy="448766"/>
          </a:xfrm>
          <a:prstGeom prst="roundRect">
            <a:avLst>
              <a:gd name="adj" fmla="val 18670"/>
            </a:avLst>
          </a:prstGeom>
          <a:solidFill>
            <a:srgbClr val="7E023C"/>
          </a:solidFill>
          <a:ln w="6350">
            <a:solidFill>
              <a:srgbClr val="971B55"/>
            </a:solidFill>
            <a:prstDash val="solid"/>
          </a:ln>
        </p:spPr>
      </p:sp>
      <p:sp>
        <p:nvSpPr>
          <p:cNvPr id="4" name="Text 2"/>
          <p:cNvSpPr/>
          <p:nvPr/>
        </p:nvSpPr>
        <p:spPr>
          <a:xfrm>
            <a:off x="1346266" y="2999085"/>
            <a:ext cx="2784108"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Integrity Needs Layers</a:t>
            </a:r>
            <a:endParaRPr lang="en-US" sz="1800" dirty="0"/>
          </a:p>
        </p:txBody>
      </p:sp>
      <p:sp>
        <p:nvSpPr>
          <p:cNvPr id="5" name="Text 3"/>
          <p:cNvSpPr/>
          <p:nvPr/>
        </p:nvSpPr>
        <p:spPr>
          <a:xfrm>
            <a:off x="1346266" y="3412034"/>
            <a:ext cx="2784108"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Detection should be part of broader strategy, not standalone.</a:t>
            </a:r>
            <a:endParaRPr lang="en-US" sz="1550" dirty="0"/>
          </a:p>
        </p:txBody>
      </p:sp>
      <p:sp>
        <p:nvSpPr>
          <p:cNvPr id="6" name="Shape 4"/>
          <p:cNvSpPr/>
          <p:nvPr/>
        </p:nvSpPr>
        <p:spPr>
          <a:xfrm>
            <a:off x="4379704" y="2930525"/>
            <a:ext cx="448755" cy="448766"/>
          </a:xfrm>
          <a:prstGeom prst="roundRect">
            <a:avLst>
              <a:gd name="adj" fmla="val 18670"/>
            </a:avLst>
          </a:prstGeom>
          <a:solidFill>
            <a:srgbClr val="7E023C"/>
          </a:solidFill>
          <a:ln w="6350">
            <a:solidFill>
              <a:srgbClr val="971B55"/>
            </a:solidFill>
            <a:prstDash val="solid"/>
          </a:ln>
        </p:spPr>
      </p:sp>
      <p:sp>
        <p:nvSpPr>
          <p:cNvPr id="7" name="Text 5"/>
          <p:cNvSpPr/>
          <p:nvPr/>
        </p:nvSpPr>
        <p:spPr>
          <a:xfrm>
            <a:off x="5027884" y="2999085"/>
            <a:ext cx="2784108"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People and Process Matter</a:t>
            </a:r>
            <a:endParaRPr lang="en-US" sz="1800" dirty="0"/>
          </a:p>
        </p:txBody>
      </p:sp>
      <p:sp>
        <p:nvSpPr>
          <p:cNvPr id="8" name="Text 6"/>
          <p:cNvSpPr/>
          <p:nvPr/>
        </p:nvSpPr>
        <p:spPr>
          <a:xfrm>
            <a:off x="5027884" y="3412034"/>
            <a:ext cx="278410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Depends on clear policies, faculty training, human review.</a:t>
            </a:r>
            <a:endParaRPr lang="en-US" sz="1550" dirty="0"/>
          </a:p>
        </p:txBody>
      </p:sp>
      <p:sp>
        <p:nvSpPr>
          <p:cNvPr id="9" name="Shape 7"/>
          <p:cNvSpPr/>
          <p:nvPr/>
        </p:nvSpPr>
        <p:spPr>
          <a:xfrm>
            <a:off x="8061322" y="2930525"/>
            <a:ext cx="448755" cy="448766"/>
          </a:xfrm>
          <a:prstGeom prst="roundRect">
            <a:avLst>
              <a:gd name="adj" fmla="val 18670"/>
            </a:avLst>
          </a:prstGeom>
          <a:solidFill>
            <a:srgbClr val="7E023C"/>
          </a:solidFill>
          <a:ln w="6350">
            <a:solidFill>
              <a:srgbClr val="971B55"/>
            </a:solidFill>
            <a:prstDash val="solid"/>
          </a:ln>
        </p:spPr>
      </p:sp>
      <p:sp>
        <p:nvSpPr>
          <p:cNvPr id="10" name="Text 8"/>
          <p:cNvSpPr/>
          <p:nvPr/>
        </p:nvSpPr>
        <p:spPr>
          <a:xfrm>
            <a:off x="8709502" y="2999085"/>
            <a:ext cx="2784108"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Adopt Thoughtfully</a:t>
            </a:r>
            <a:endParaRPr lang="en-US" sz="1800" dirty="0"/>
          </a:p>
        </p:txBody>
      </p:sp>
      <p:sp>
        <p:nvSpPr>
          <p:cNvPr id="11" name="Text 9"/>
          <p:cNvSpPr/>
          <p:nvPr/>
        </p:nvSpPr>
        <p:spPr>
          <a:xfrm>
            <a:off x="8709502" y="3412034"/>
            <a:ext cx="278410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Choose tools aligned with institutional needs and budget.</a:t>
            </a:r>
            <a:endParaRPr lang="en-US" sz="1550" dirty="0"/>
          </a:p>
        </p:txBody>
      </p:sp>
      <p:sp>
        <p:nvSpPr>
          <p:cNvPr id="12" name="Text 10"/>
          <p:cNvSpPr/>
          <p:nvPr/>
        </p:nvSpPr>
        <p:spPr>
          <a:xfrm>
            <a:off x="698086" y="4593927"/>
            <a:ext cx="11405108" cy="319187"/>
          </a:xfrm>
          <a:prstGeom prst="rect">
            <a:avLst/>
          </a:prstGeom>
          <a:noFill/>
          <a:ln/>
        </p:spPr>
        <p:txBody>
          <a:bodyPr wrap="none" lIns="0" tIns="0" rIns="0" bIns="0" rtlCol="0" anchor="t"/>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The most effective integrity programs treat detection as the last line of defense — not the first.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1481038"/>
            <a:ext cx="10795524" cy="586680"/>
          </a:xfrm>
          <a:prstGeom prst="rect">
            <a:avLst/>
          </a:prstGeom>
          <a:noFill/>
          <a:ln/>
        </p:spPr>
        <p:txBody>
          <a:bodyPr wrap="none" lIns="0" tIns="0" rIns="0" bIns="0" rtlCol="0" anchor="t"/>
          <a:lstStyle/>
          <a:p>
            <a:pPr algn="l" indent="0" marL="0">
              <a:lnSpc>
                <a:spcPct val="104000"/>
              </a:lnSpc>
              <a:buNone/>
            </a:pPr>
            <a:r>
              <a:rPr lang="en-US" sz="3650" b="1" spc="-111" kern="0" dirty="0">
                <a:solidFill>
                  <a:srgbClr val="FFFFFF"/>
                </a:solidFill>
                <a:latin typeface="Overpass Bold" pitchFamily="34" charset="0"/>
                <a:ea typeface="Overpass Bold" pitchFamily="34" charset="-122"/>
                <a:cs typeface="Overpass Bold" pitchFamily="34" charset="-120"/>
              </a:rPr>
              <a:t>Future Scope</a:t>
            </a:r>
            <a:endParaRPr lang="en-US" sz="3650" dirty="0"/>
          </a:p>
        </p:txBody>
      </p:sp>
      <p:sp>
        <p:nvSpPr>
          <p:cNvPr id="3" name="Text 1"/>
          <p:cNvSpPr/>
          <p:nvPr/>
        </p:nvSpPr>
        <p:spPr>
          <a:xfrm>
            <a:off x="698086" y="2366863"/>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As academic misconduct evolves, so must our defense mechanisms. This section explores the cutting-edge technologies and emerging trends poised to redefine plagiarism detection.</a:t>
            </a:r>
            <a:endParaRPr lang="en-US" sz="1550" dirty="0"/>
          </a:p>
        </p:txBody>
      </p:sp>
      <p:sp>
        <p:nvSpPr>
          <p:cNvPr id="4" name="Text 2"/>
          <p:cNvSpPr/>
          <p:nvPr/>
        </p:nvSpPr>
        <p:spPr>
          <a:xfrm>
            <a:off x="698086" y="3304381"/>
            <a:ext cx="1079552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FFFFFF"/>
                </a:solidFill>
                <a:latin typeface="Overpass Bold" pitchFamily="34" charset="0"/>
                <a:ea typeface="Overpass Bold" pitchFamily="34" charset="-122"/>
                <a:cs typeface="Overpass Bold" pitchFamily="34" charset="-120"/>
              </a:rPr>
              <a:t>Emerging Technologies</a:t>
            </a:r>
            <a:endParaRPr lang="en-US" sz="18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896816"/>
            <a:ext cx="498661" cy="498673"/>
          </a:xfrm>
          <a:prstGeom prst="rect">
            <a:avLst/>
          </a:prstGeom>
        </p:spPr>
      </p:pic>
      <p:sp>
        <p:nvSpPr>
          <p:cNvPr id="6" name="Text 3"/>
          <p:cNvSpPr/>
          <p:nvPr/>
        </p:nvSpPr>
        <p:spPr>
          <a:xfrm>
            <a:off x="698086" y="4644827"/>
            <a:ext cx="10795524" cy="293291"/>
          </a:xfrm>
          <a:prstGeom prst="rect">
            <a:avLst/>
          </a:prstGeom>
          <a:noFill/>
          <a:ln/>
        </p:spPr>
        <p:txBody>
          <a:bodyPr wrap="none" lIns="0" tIns="0" rIns="0" bIns="0" rtlCol="0" anchor="t"/>
          <a:lstStyle/>
          <a:p>
            <a:pPr algn="l" indent="0" marL="0">
              <a:lnSpc>
                <a:spcPct val="104000"/>
              </a:lnSpc>
              <a:buNone/>
            </a:pPr>
            <a:r>
              <a:rPr lang="en-US" sz="1800" b="1" spc="-55" kern="0" dirty="0">
                <a:solidFill>
                  <a:srgbClr val="E5E0DF"/>
                </a:solidFill>
                <a:latin typeface="Overpass Bold" pitchFamily="34" charset="0"/>
                <a:ea typeface="Overpass Bold" pitchFamily="34" charset="-122"/>
                <a:cs typeface="Overpass Bold" pitchFamily="34" charset="-120"/>
              </a:rPr>
              <a:t>AI-generated Content Detection</a:t>
            </a:r>
            <a:endParaRPr lang="en-US" sz="1800" dirty="0"/>
          </a:p>
        </p:txBody>
      </p:sp>
      <p:sp>
        <p:nvSpPr>
          <p:cNvPr id="7" name="Text 4"/>
          <p:cNvSpPr/>
          <p:nvPr/>
        </p:nvSpPr>
        <p:spPr>
          <a:xfrm>
            <a:off x="698086" y="5057775"/>
            <a:ext cx="10795524" cy="319187"/>
          </a:xfrm>
          <a:prstGeom prst="rect">
            <a:avLst/>
          </a:prstGeom>
          <a:noFill/>
          <a:ln/>
        </p:spPr>
        <p:txBody>
          <a:bodyPr wrap="none" lIns="0" tIns="0" rIns="0" bIns="0" rtlCol="0" anchor="t"/>
          <a:lstStyle/>
          <a:p>
            <a:pPr algn="l" indent="0" marL="0">
              <a:lnSpc>
                <a:spcPct val="133000"/>
              </a:lnSpc>
              <a:buNone/>
            </a:pPr>
            <a:r>
              <a:rPr lang="en-US" sz="1550" dirty="0">
                <a:solidFill>
                  <a:srgbClr val="E5E0DF"/>
                </a:solidFill>
                <a:latin typeface="Overpass" pitchFamily="34" charset="0"/>
                <a:ea typeface="Overpass" pitchFamily="34" charset="-122"/>
                <a:cs typeface="Overpass" pitchFamily="34" charset="-120"/>
              </a:rPr>
              <a:t>Sophisticated algorithms designed to identify content produced by large language models and generative AI.</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2026-09-29T03:09:57Z</dcterms:created>
  <dcterms:modified xsi:type="dcterms:W3CDTF">2026-09-29T03:09:57Z</dcterms:modified>
</cp:coreProperties>
</file>